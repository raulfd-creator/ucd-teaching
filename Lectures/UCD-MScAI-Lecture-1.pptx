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7" r:id="rId4"/>
    <p:sldId id="271" r:id="rId5"/>
    <p:sldId id="259" r:id="rId6"/>
    <p:sldId id="272" r:id="rId7"/>
    <p:sldId id="260" r:id="rId8"/>
    <p:sldId id="274" r:id="rId9"/>
    <p:sldId id="273" r:id="rId10"/>
    <p:sldId id="261" r:id="rId11"/>
    <p:sldId id="262" r:id="rId12"/>
    <p:sldId id="263" r:id="rId13"/>
    <p:sldId id="265" r:id="rId14"/>
    <p:sldId id="275" r:id="rId15"/>
    <p:sldId id="276" r:id="rId16"/>
    <p:sldId id="277" r:id="rId17"/>
    <p:sldId id="278" r:id="rId18"/>
    <p:sldId id="264" r:id="rId19"/>
    <p:sldId id="266" r:id="rId20"/>
    <p:sldId id="267" r:id="rId21"/>
    <p:sldId id="269" r:id="rId22"/>
    <p:sldId id="268" r:id="rId23"/>
    <p:sldId id="270" r:id="rId24"/>
    <p:sldId id="284" r:id="rId25"/>
    <p:sldId id="281" r:id="rId26"/>
    <p:sldId id="282" r:id="rId27"/>
    <p:sldId id="279" r:id="rId28"/>
    <p:sldId id="283" r:id="rId29"/>
    <p:sldId id="280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7"/>
    <p:restoredTop sz="94658"/>
  </p:normalViewPr>
  <p:slideViewPr>
    <p:cSldViewPr snapToGrid="0">
      <p:cViewPr varScale="1">
        <p:scale>
          <a:sx n="120" d="100"/>
          <a:sy n="120" d="100"/>
        </p:scale>
        <p:origin x="1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A83B0-E2DE-074F-BC99-8CA844700D34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7EF8C-B83F-A244-859A-B2DB048B3BA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175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7EF8C-B83F-A244-859A-B2DB048B3BAD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31628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3975D-1BDC-B5D6-9832-7A00625F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B1AC2-EFC2-2655-3E85-7E52F7B82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BEDEE-825F-552F-D7B6-C0E7B501D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A22A5-F8FE-4285-0752-DECE66BE7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7EF8C-B83F-A244-859A-B2DB048B3BAD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9388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437DD-D089-FDD1-38EF-BB4608AC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5FB7C-F4D8-A30F-6870-68AF1AA4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3FB59-6CCF-72CC-CC58-88EDAA1A9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B5028-7E32-23FE-4C9C-16BF1A894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7EF8C-B83F-A244-859A-B2DB048B3BAD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1097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7EF8C-B83F-A244-859A-B2DB048B3BAD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6211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7EF8C-B83F-A244-859A-B2DB048B3BAD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3984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7EF8C-B83F-A244-859A-B2DB048B3BAD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375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8A787-20E2-D299-D4EE-F22C66B7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946AB-249B-A591-7779-D5B83C543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7D93-F004-1418-A851-FA1AAAFD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B4EEC-8134-3299-A223-C42C4D7B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7E9E8-DA9B-C5EE-341C-0A76DF9A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400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15D0-307C-46B0-BCB0-F878788D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60A17-6D51-780D-8FBB-3957F5D7F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F5EEA-ECC8-76E2-C049-D7CBD4A7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2E38F-14EC-0B64-8F91-5A71A8E7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04F5-BB26-61D7-9B3E-75F8A7F4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260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0E11-9046-02FD-D725-B8EEE0AE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2CB12-21AD-1889-A8FA-B5E9F6195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F0262-B171-CEC6-5E2F-88095EDA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4E0C-631B-5834-60E2-86D692E2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94288-E17F-6A49-A9E8-7162063C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453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AB65-2268-1C63-0076-3599E398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CF5FC-FAE9-E16B-26A3-D794F6892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3EB94-7EA1-F0E4-CDDC-CB7389EA8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905ED-AB35-387C-A3B6-3E26FF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A1B7B-66C7-CC45-1E1D-59B72E06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4DA07-B21D-8864-E978-90732BA8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106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CD11-585A-CD7B-91B3-A7B59A21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EFF60-2D57-9D05-F626-9C9A68E9C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B5137-EBFA-4F49-900E-5EE3E8792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4D3CD-3F96-3BD6-BB31-5AFA7F895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0C179-71F8-849C-FEB4-430AD2548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98B4F-2443-9225-743A-33287ABF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9B864-E2C5-4ADF-A858-6C935F0E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9E4EB-BE74-D68B-F87C-53E84616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598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C3FA-F369-CABE-127C-6241FEBE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916A9-F5A5-B996-FEA6-4EAAC9BD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6D04A-A5D0-4F83-CF78-DE53527D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C679D-4493-8F9F-87AC-A10EB232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6375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0750D3-23B1-74E8-2CD2-7196E0BA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5A5C9-AD7A-F643-FA31-F0DF4964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4D097-3D70-4FF0-14C1-ED0BB7C8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1349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2676-B4FB-ED52-6534-E3D5D972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A4D3F-7C6D-505A-ABCE-7F2F10A6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CA7CB-C59A-380F-E720-EF7D9558F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FB42A-9EB1-946E-492D-4B3606B7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19759-3C5D-3EA8-9CF0-6AC59A60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2A6E6-1059-8246-0D11-9DB7E043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986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BF4F-B2DA-6D09-FB19-12259CCE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6CAF2-4E1B-BCFC-42CE-1423AB411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A4EA8-6C39-C1B2-4FDE-0E0032407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DB2C1-3D70-DB40-2D30-51E5633F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93BD9-E789-F97C-ED0D-C604A5F7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BCA7E-C674-530F-40F0-DB5DBD64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573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AEA9-5566-5DCA-7CED-CBDA513A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964CB-E5FA-8BEF-F474-C1FDDC8AF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57C3E-4F7C-307C-53F0-146ECD46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4944-47B1-C286-5EA9-BEDB5673A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18AAE-74C3-6F45-2B9E-B6219E48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3624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DD388-2741-3A91-23CC-11165B7EB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BB8BA-CFDB-2F99-B136-47C545C1F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3E8F3-025B-65E1-9ACC-5A1FB6C6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451C-BB38-4106-029A-41FE4223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440-F8DA-6A8B-C480-1AC6A595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076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8BB97-E29B-A247-EEC5-A26C1021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9A7C-330F-0A69-4F88-28B1A5A97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BD47A-91D5-3040-A323-6287DC84E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0F413-AF10-A848-AFA0-FB73FBAC351C}" type="datetimeFigureOut">
              <a:rPr lang="en-IE" smtClean="0"/>
              <a:t>16/02/2026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45BA6-97F1-36AF-377A-5C22E32EF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EF3B8-7871-43C7-57F6-53BE5A02A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6A6FA-79CE-564D-ADB6-9439488A2B8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1539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PZh9BOjkQs" TargetMode="External"/><Relationship Id="rId2" Type="http://schemas.openxmlformats.org/officeDocument/2006/relationships/hyperlink" Target="https://arena.a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eMlx5fFNoYc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39DEF-1CE3-A017-A63F-9FBC30E37F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Molecular language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89284-9C93-A77A-5261-5C6F9D911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Raul Fernandez-Diaz</a:t>
            </a:r>
          </a:p>
        </p:txBody>
      </p:sp>
    </p:spTree>
    <p:extLst>
      <p:ext uri="{BB962C8B-B14F-4D97-AF65-F5344CB8AC3E}">
        <p14:creationId xmlns:p14="http://schemas.microsoft.com/office/powerpoint/2010/main" val="25705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C8A8-9781-6636-5B15-B9746387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language models?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D7F65-D3E2-37D5-CE07-122BFBE5A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Natural language processing basics</a:t>
            </a:r>
          </a:p>
        </p:txBody>
      </p:sp>
    </p:spTree>
    <p:extLst>
      <p:ext uri="{BB962C8B-B14F-4D97-AF65-F5344CB8AC3E}">
        <p14:creationId xmlns:p14="http://schemas.microsoft.com/office/powerpoint/2010/main" val="280546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509B-E235-AD00-759E-77C96DA4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Natural language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BF8156BB-5F25-8CD0-5539-341D79926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5251" y="1825625"/>
            <a:ext cx="88814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938F-6DA5-037B-A9ED-1528A7A1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AF49-8808-2EFC-55A6-8727E84A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do we learn language?</a:t>
            </a:r>
          </a:p>
        </p:txBody>
      </p:sp>
      <p:pic>
        <p:nvPicPr>
          <p:cNvPr id="4" name="Picture 2" descr="Baby - Free people icons">
            <a:extLst>
              <a:ext uri="{FF2B5EF4-FFF2-40B4-BE49-F238E27FC236}">
                <a16:creationId xmlns:a16="http://schemas.microsoft.com/office/drawing/2014/main" id="{D9621FA0-6AB2-EC30-C16C-0BFFFDD98D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77" y="2085583"/>
            <a:ext cx="3625830" cy="362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983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012A-97EE-3603-2D5F-2531C7EF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do we learn language?</a:t>
            </a:r>
          </a:p>
        </p:txBody>
      </p:sp>
      <p:pic>
        <p:nvPicPr>
          <p:cNvPr id="4" name="Picture 2" descr="Baby - Free people icons">
            <a:extLst>
              <a:ext uri="{FF2B5EF4-FFF2-40B4-BE49-F238E27FC236}">
                <a16:creationId xmlns:a16="http://schemas.microsoft.com/office/drawing/2014/main" id="{FD8C7162-0130-A183-5E7B-B267363DC7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77" y="2085583"/>
            <a:ext cx="3625830" cy="362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867691-78E3-E32C-885A-53F7289B2AFD}"/>
              </a:ext>
            </a:extLst>
          </p:cNvPr>
          <p:cNvSpPr/>
          <p:nvPr/>
        </p:nvSpPr>
        <p:spPr>
          <a:xfrm>
            <a:off x="5168154" y="4055551"/>
            <a:ext cx="2061882" cy="8367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60E1D4-70AF-A321-2858-CD84C19A674E}"/>
              </a:ext>
            </a:extLst>
          </p:cNvPr>
          <p:cNvSpPr/>
          <p:nvPr/>
        </p:nvSpPr>
        <p:spPr>
          <a:xfrm>
            <a:off x="7230036" y="2450869"/>
            <a:ext cx="2061882" cy="8367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>
                <a:solidFill>
                  <a:schemeClr val="tx1"/>
                </a:solidFill>
              </a:rPr>
              <a:t>General rules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53F854-1968-B426-18A3-D332B48D1A58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6199095" y="3287575"/>
            <a:ext cx="2061882" cy="767976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5B992F5-1455-6A96-61C0-AE1633DA2C83}"/>
              </a:ext>
            </a:extLst>
          </p:cNvPr>
          <p:cNvSpPr txBox="1"/>
          <p:nvPr/>
        </p:nvSpPr>
        <p:spPr>
          <a:xfrm>
            <a:off x="5807882" y="326786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Induction</a:t>
            </a:r>
          </a:p>
        </p:txBody>
      </p:sp>
    </p:spTree>
    <p:extLst>
      <p:ext uri="{BB962C8B-B14F-4D97-AF65-F5344CB8AC3E}">
        <p14:creationId xmlns:p14="http://schemas.microsoft.com/office/powerpoint/2010/main" val="203279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B2F1-F088-8479-9F9B-C88ECA7A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606AA-BF5A-7987-FE29-D7CEF630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do we learn language?</a:t>
            </a:r>
          </a:p>
        </p:txBody>
      </p:sp>
      <p:pic>
        <p:nvPicPr>
          <p:cNvPr id="4" name="Picture 2" descr="Baby - Free people icons">
            <a:extLst>
              <a:ext uri="{FF2B5EF4-FFF2-40B4-BE49-F238E27FC236}">
                <a16:creationId xmlns:a16="http://schemas.microsoft.com/office/drawing/2014/main" id="{53D867FE-0B88-42BC-EC26-4FBF527075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77" y="2085583"/>
            <a:ext cx="3625830" cy="362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051771-A612-AEDA-9603-09A54A0399D2}"/>
              </a:ext>
            </a:extLst>
          </p:cNvPr>
          <p:cNvSpPr/>
          <p:nvPr/>
        </p:nvSpPr>
        <p:spPr>
          <a:xfrm>
            <a:off x="5168154" y="4055551"/>
            <a:ext cx="2061882" cy="83670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70C9E6-FC4D-6730-E0EE-BF77B1014EFE}"/>
              </a:ext>
            </a:extLst>
          </p:cNvPr>
          <p:cNvSpPr/>
          <p:nvPr/>
        </p:nvSpPr>
        <p:spPr>
          <a:xfrm>
            <a:off x="7230036" y="2450869"/>
            <a:ext cx="2061882" cy="8367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>
                <a:solidFill>
                  <a:schemeClr val="tx1"/>
                </a:solidFill>
              </a:rPr>
              <a:t>General rules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38D25B-0FFB-A411-BCD4-CA245EED730A}"/>
              </a:ext>
            </a:extLst>
          </p:cNvPr>
          <p:cNvSpPr/>
          <p:nvPr/>
        </p:nvSpPr>
        <p:spPr>
          <a:xfrm>
            <a:off x="9291918" y="4055551"/>
            <a:ext cx="2061882" cy="8367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>
                <a:solidFill>
                  <a:schemeClr val="tx1"/>
                </a:solidFill>
              </a:rPr>
              <a:t>Prediction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4D17A4-9884-FF8D-39AE-E77FBFEE973B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V="1">
            <a:off x="6199095" y="3287575"/>
            <a:ext cx="2061882" cy="767976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E6D862-AFBD-7759-97E2-3C999E97AE6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8260977" y="3287575"/>
            <a:ext cx="2061882" cy="767976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B448891-5E6C-24F3-1389-4465013CF6EC}"/>
              </a:ext>
            </a:extLst>
          </p:cNvPr>
          <p:cNvSpPr txBox="1"/>
          <p:nvPr/>
        </p:nvSpPr>
        <p:spPr>
          <a:xfrm>
            <a:off x="5807882" y="326786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chemeClr val="accent2">
                    <a:lumMod val="75000"/>
                  </a:schemeClr>
                </a:solidFill>
              </a:rPr>
              <a:t>Induction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ABC015-5E5D-D746-F24F-8AABDEF181AB}"/>
              </a:ext>
            </a:extLst>
          </p:cNvPr>
          <p:cNvSpPr txBox="1"/>
          <p:nvPr/>
        </p:nvSpPr>
        <p:spPr>
          <a:xfrm>
            <a:off x="9756037" y="3330849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</a:rPr>
              <a:t>Deduction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34A1CA-E2D2-56BC-6C47-4880AFFC2F24}"/>
              </a:ext>
            </a:extLst>
          </p:cNvPr>
          <p:cNvSpPr txBox="1"/>
          <p:nvPr/>
        </p:nvSpPr>
        <p:spPr>
          <a:xfrm>
            <a:off x="6296495" y="5340342"/>
            <a:ext cx="4687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u="sng" dirty="0"/>
              <a:t>Induction</a:t>
            </a:r>
            <a:r>
              <a:rPr lang="en-IE" dirty="0"/>
              <a:t>: Process of inferring general rules from discrete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u="sng" dirty="0"/>
              <a:t>Deduction</a:t>
            </a:r>
            <a:r>
              <a:rPr lang="en-IE" dirty="0"/>
              <a:t>: Process of deriving discrete predictions from general rules</a:t>
            </a:r>
            <a:endParaRPr lang="en-IE" b="1" u="sng" dirty="0"/>
          </a:p>
        </p:txBody>
      </p:sp>
    </p:spTree>
    <p:extLst>
      <p:ext uri="{BB962C8B-B14F-4D97-AF65-F5344CB8AC3E}">
        <p14:creationId xmlns:p14="http://schemas.microsoft.com/office/powerpoint/2010/main" val="382749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5810F-27B0-93F0-55EC-2FF97F50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1AA3-2B8A-D10C-075C-73937959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can we teach a model languages?</a:t>
            </a:r>
          </a:p>
        </p:txBody>
      </p:sp>
      <p:pic>
        <p:nvPicPr>
          <p:cNvPr id="4" name="Picture 2" descr="Baby - Free people icons">
            <a:extLst>
              <a:ext uri="{FF2B5EF4-FFF2-40B4-BE49-F238E27FC236}">
                <a16:creationId xmlns:a16="http://schemas.microsoft.com/office/drawing/2014/main" id="{D9BD8CAD-E3EA-4E8D-BCEC-C78A7045F3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028" y="4728575"/>
            <a:ext cx="1764300" cy="176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Robot outline">
            <a:extLst>
              <a:ext uri="{FF2B5EF4-FFF2-40B4-BE49-F238E27FC236}">
                <a16:creationId xmlns:a16="http://schemas.microsoft.com/office/drawing/2014/main" id="{BB8239B4-8F54-9026-BA84-0D86927BE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4124" y="4787138"/>
            <a:ext cx="1647173" cy="1647173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CA4EBEE0-E073-A72A-E086-4EEBC0CA8388}"/>
              </a:ext>
            </a:extLst>
          </p:cNvPr>
          <p:cNvGrpSpPr/>
          <p:nvPr/>
        </p:nvGrpSpPr>
        <p:grpSpPr>
          <a:xfrm>
            <a:off x="8442404" y="2474475"/>
            <a:ext cx="3553605" cy="1713447"/>
            <a:chOff x="8442404" y="2474475"/>
            <a:chExt cx="3553605" cy="171344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0CEA3FB-D720-EE98-5DD9-97B4228B8748}"/>
                </a:ext>
              </a:extLst>
            </p:cNvPr>
            <p:cNvSpPr/>
            <p:nvPr/>
          </p:nvSpPr>
          <p:spPr>
            <a:xfrm>
              <a:off x="8586631" y="3619256"/>
              <a:ext cx="1478522" cy="56375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Observation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4A00775-640F-DFB0-E920-ACB674BF78E4}"/>
                </a:ext>
              </a:extLst>
            </p:cNvPr>
            <p:cNvSpPr/>
            <p:nvPr/>
          </p:nvSpPr>
          <p:spPr>
            <a:xfrm>
              <a:off x="9331889" y="2474475"/>
              <a:ext cx="1605133" cy="56866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General rules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A456F01-216C-DAD6-4C4D-DAC66BFEF5C4}"/>
                </a:ext>
              </a:extLst>
            </p:cNvPr>
            <p:cNvSpPr/>
            <p:nvPr/>
          </p:nvSpPr>
          <p:spPr>
            <a:xfrm>
              <a:off x="10303669" y="3619256"/>
              <a:ext cx="1692340" cy="5686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Prediction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24972E-1072-A4E8-70A1-CD728C9E4470}"/>
                </a:ext>
              </a:extLst>
            </p:cNvPr>
            <p:cNvCxnSpPr>
              <a:cxnSpLocks/>
              <a:stCxn id="9" idx="0"/>
              <a:endCxn id="11" idx="2"/>
            </p:cNvCxnSpPr>
            <p:nvPr/>
          </p:nvCxnSpPr>
          <p:spPr>
            <a:xfrm flipV="1">
              <a:off x="9325892" y="3043141"/>
              <a:ext cx="808564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4A999BC-84BE-0B19-C8F7-B9B2E5F6B448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0134456" y="3043141"/>
              <a:ext cx="1015383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C6B141-A876-6BCB-D2E8-7AB7EEB9937B}"/>
                </a:ext>
              </a:extLst>
            </p:cNvPr>
            <p:cNvSpPr txBox="1"/>
            <p:nvPr/>
          </p:nvSpPr>
          <p:spPr>
            <a:xfrm>
              <a:off x="8442404" y="3055584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2">
                      <a:lumMod val="75000"/>
                    </a:schemeClr>
                  </a:solidFill>
                </a:rPr>
                <a:t>Induction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9A5524-8ACD-7652-AE6A-C745992E71D4}"/>
                </a:ext>
              </a:extLst>
            </p:cNvPr>
            <p:cNvSpPr txBox="1"/>
            <p:nvPr/>
          </p:nvSpPr>
          <p:spPr>
            <a:xfrm>
              <a:off x="10767788" y="3050590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4">
                      <a:lumMod val="50000"/>
                    </a:schemeClr>
                  </a:solidFill>
                </a:rPr>
                <a:t>Deduction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CBD76D1-646C-5C44-D202-7EBDDF2B5101}"/>
              </a:ext>
            </a:extLst>
          </p:cNvPr>
          <p:cNvSpPr txBox="1"/>
          <p:nvPr/>
        </p:nvSpPr>
        <p:spPr>
          <a:xfrm>
            <a:off x="563671" y="2034927"/>
            <a:ext cx="4427950" cy="13280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latin typeface="Proxima Nova A Light" panose="02000506030000020004" pitchFamily="2" charset="0"/>
              </a:rPr>
              <a:t>To be or not to be, that is the question: Whether ’tis nobler in the mind to suffer the slings and arrows of outrageous fortune,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5A1086-59BE-A44F-CEB3-625E125FE73C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777646" y="3362950"/>
            <a:ext cx="0" cy="70161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Robot outline">
            <a:extLst>
              <a:ext uri="{FF2B5EF4-FFF2-40B4-BE49-F238E27FC236}">
                <a16:creationId xmlns:a16="http://schemas.microsoft.com/office/drawing/2014/main" id="{537D5E83-A229-C549-A870-7AF87D201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398" y="2955244"/>
            <a:ext cx="1328023" cy="132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8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24CFA-38E2-4E0F-2596-91704164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BC35-E758-A5C1-436E-15AB318A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can we teach a model languages?</a:t>
            </a:r>
          </a:p>
        </p:txBody>
      </p:sp>
      <p:pic>
        <p:nvPicPr>
          <p:cNvPr id="4" name="Picture 2" descr="Baby - Free people icons">
            <a:extLst>
              <a:ext uri="{FF2B5EF4-FFF2-40B4-BE49-F238E27FC236}">
                <a16:creationId xmlns:a16="http://schemas.microsoft.com/office/drawing/2014/main" id="{6357D07C-A2B1-08CF-2046-E5BDFE13F6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028" y="4728575"/>
            <a:ext cx="1764300" cy="176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Robot outline">
            <a:extLst>
              <a:ext uri="{FF2B5EF4-FFF2-40B4-BE49-F238E27FC236}">
                <a16:creationId xmlns:a16="http://schemas.microsoft.com/office/drawing/2014/main" id="{FA827ADD-9BD5-44FC-91E4-1D4E20FD1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4124" y="4787138"/>
            <a:ext cx="1647173" cy="1647173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C26F027C-6BDD-91DB-4C52-F06146C0C4AA}"/>
              </a:ext>
            </a:extLst>
          </p:cNvPr>
          <p:cNvGrpSpPr/>
          <p:nvPr/>
        </p:nvGrpSpPr>
        <p:grpSpPr>
          <a:xfrm>
            <a:off x="8442404" y="2474475"/>
            <a:ext cx="3553605" cy="1713447"/>
            <a:chOff x="8442404" y="2474475"/>
            <a:chExt cx="3553605" cy="171344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C9FA7E3-1245-6C5A-B177-D50EB4CCC8AB}"/>
                </a:ext>
              </a:extLst>
            </p:cNvPr>
            <p:cNvSpPr/>
            <p:nvPr/>
          </p:nvSpPr>
          <p:spPr>
            <a:xfrm>
              <a:off x="8586631" y="3619256"/>
              <a:ext cx="1478522" cy="56375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Observation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FB131544-474D-60E4-B13E-31E4695B1149}"/>
                </a:ext>
              </a:extLst>
            </p:cNvPr>
            <p:cNvSpPr/>
            <p:nvPr/>
          </p:nvSpPr>
          <p:spPr>
            <a:xfrm>
              <a:off x="9331889" y="2474475"/>
              <a:ext cx="1605133" cy="56866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General rules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B3EC5F6-1AE3-2BB2-78E4-8259F29D55CC}"/>
                </a:ext>
              </a:extLst>
            </p:cNvPr>
            <p:cNvSpPr/>
            <p:nvPr/>
          </p:nvSpPr>
          <p:spPr>
            <a:xfrm>
              <a:off x="10303669" y="3619256"/>
              <a:ext cx="1692340" cy="5686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Prediction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8C2FAD-D6CD-98B5-7DD2-0CF2161BF533}"/>
                </a:ext>
              </a:extLst>
            </p:cNvPr>
            <p:cNvCxnSpPr>
              <a:cxnSpLocks/>
              <a:stCxn id="9" idx="0"/>
              <a:endCxn id="11" idx="2"/>
            </p:cNvCxnSpPr>
            <p:nvPr/>
          </p:nvCxnSpPr>
          <p:spPr>
            <a:xfrm flipV="1">
              <a:off x="9325892" y="3043141"/>
              <a:ext cx="808564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32A31E-7A20-4844-B9F3-1823CD2BA9F9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0134456" y="3043141"/>
              <a:ext cx="1015383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325643B-2C35-A7B4-A51D-7BA512BEFC8F}"/>
                </a:ext>
              </a:extLst>
            </p:cNvPr>
            <p:cNvSpPr txBox="1"/>
            <p:nvPr/>
          </p:nvSpPr>
          <p:spPr>
            <a:xfrm>
              <a:off x="8442404" y="3055584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2">
                      <a:lumMod val="75000"/>
                    </a:schemeClr>
                  </a:solidFill>
                </a:rPr>
                <a:t>Induction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13F98F-E045-4976-DFD3-68EAE819942A}"/>
                </a:ext>
              </a:extLst>
            </p:cNvPr>
            <p:cNvSpPr txBox="1"/>
            <p:nvPr/>
          </p:nvSpPr>
          <p:spPr>
            <a:xfrm>
              <a:off x="10767788" y="3050590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4">
                      <a:lumMod val="50000"/>
                    </a:schemeClr>
                  </a:solidFill>
                </a:rPr>
                <a:t>Deduction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C2261F0-A52A-C5D9-C461-D597999F61D2}"/>
              </a:ext>
            </a:extLst>
          </p:cNvPr>
          <p:cNvSpPr txBox="1"/>
          <p:nvPr/>
        </p:nvSpPr>
        <p:spPr>
          <a:xfrm>
            <a:off x="563671" y="2034927"/>
            <a:ext cx="4427950" cy="13280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latin typeface="Proxima Nova A Light" panose="02000506030000020004" pitchFamily="2" charset="0"/>
              </a:rPr>
              <a:t>To be or not to be, that is the question: Whether ’tis nobler in the mind to suffer the slings and arrows of outrageous fortune,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B89581-DF1D-B2B7-85E9-B7EFC80B3790}"/>
              </a:ext>
            </a:extLst>
          </p:cNvPr>
          <p:cNvSpPr txBox="1"/>
          <p:nvPr/>
        </p:nvSpPr>
        <p:spPr>
          <a:xfrm>
            <a:off x="563671" y="4064563"/>
            <a:ext cx="4427950" cy="13280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latin typeface="Proxima Nova A Light" panose="02000506030000020004" pitchFamily="2" charset="0"/>
              </a:rPr>
              <a:t>To be or </a:t>
            </a:r>
            <a:r>
              <a:rPr lang="en-IE" dirty="0">
                <a:solidFill>
                  <a:srgbClr val="FF0000"/>
                </a:solidFill>
                <a:highlight>
                  <a:srgbClr val="FF0000"/>
                </a:highlight>
                <a:latin typeface="Proxima Nova A Light" panose="02000506030000020004" pitchFamily="2" charset="0"/>
              </a:rPr>
              <a:t>not</a:t>
            </a:r>
            <a:r>
              <a:rPr lang="en-IE" dirty="0">
                <a:latin typeface="Proxima Nova A Light" panose="02000506030000020004" pitchFamily="2" charset="0"/>
              </a:rPr>
              <a:t> to be, that is the question: Whether ’tis </a:t>
            </a:r>
            <a:r>
              <a:rPr lang="en-IE" dirty="0">
                <a:solidFill>
                  <a:srgbClr val="FF0000"/>
                </a:solidFill>
                <a:highlight>
                  <a:srgbClr val="FF0000"/>
                </a:highlight>
                <a:latin typeface="Proxima Nova A Light" panose="02000506030000020004" pitchFamily="2" charset="0"/>
              </a:rPr>
              <a:t>nobler</a:t>
            </a:r>
            <a:r>
              <a:rPr lang="en-IE" dirty="0">
                <a:latin typeface="Proxima Nova A Light" panose="02000506030000020004" pitchFamily="2" charset="0"/>
              </a:rPr>
              <a:t> in the </a:t>
            </a:r>
            <a:r>
              <a:rPr lang="en-IE" dirty="0">
                <a:solidFill>
                  <a:srgbClr val="FF0000"/>
                </a:solidFill>
                <a:highlight>
                  <a:srgbClr val="FF0000"/>
                </a:highlight>
                <a:latin typeface="Proxima Nova A Light" panose="02000506030000020004" pitchFamily="2" charset="0"/>
              </a:rPr>
              <a:t>mind</a:t>
            </a:r>
            <a:r>
              <a:rPr lang="en-IE" dirty="0">
                <a:latin typeface="Proxima Nova A Light" panose="02000506030000020004" pitchFamily="2" charset="0"/>
              </a:rPr>
              <a:t> to suffer the slings and arrows of </a:t>
            </a:r>
            <a:r>
              <a:rPr lang="en-IE" dirty="0">
                <a:solidFill>
                  <a:srgbClr val="FF0000"/>
                </a:solidFill>
                <a:highlight>
                  <a:srgbClr val="FF0000"/>
                </a:highlight>
                <a:latin typeface="Proxima Nova A Light" panose="02000506030000020004" pitchFamily="2" charset="0"/>
              </a:rPr>
              <a:t>outrageous</a:t>
            </a:r>
            <a:r>
              <a:rPr lang="en-IE" dirty="0">
                <a:latin typeface="Proxima Nova A Light" panose="02000506030000020004" pitchFamily="2" charset="0"/>
              </a:rPr>
              <a:t> fortune,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154F12-2FE4-0347-C605-7CF8094919A1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2777646" y="3362950"/>
            <a:ext cx="0" cy="70161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B26747-85CF-67B5-E439-0DFD5BC1021C}"/>
              </a:ext>
            </a:extLst>
          </p:cNvPr>
          <p:cNvSpPr txBox="1"/>
          <p:nvPr/>
        </p:nvSpPr>
        <p:spPr>
          <a:xfrm>
            <a:off x="2832554" y="3522523"/>
            <a:ext cx="2218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Mask words (tokens)</a:t>
            </a:r>
          </a:p>
        </p:txBody>
      </p:sp>
      <p:pic>
        <p:nvPicPr>
          <p:cNvPr id="31" name="Graphic 30" descr="Robot outline">
            <a:extLst>
              <a:ext uri="{FF2B5EF4-FFF2-40B4-BE49-F238E27FC236}">
                <a16:creationId xmlns:a16="http://schemas.microsoft.com/office/drawing/2014/main" id="{12F52BE8-3DC8-2EBF-D08F-68DA7472F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398" y="2955244"/>
            <a:ext cx="1328023" cy="1328023"/>
          </a:xfrm>
          <a:prstGeom prst="rect">
            <a:avLst/>
          </a:prstGeom>
        </p:spPr>
      </p:pic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71DDF1B7-8B44-D8E2-EB7F-8F61D7B4C2BE}"/>
              </a:ext>
            </a:extLst>
          </p:cNvPr>
          <p:cNvCxnSpPr>
            <a:stCxn id="27" idx="3"/>
            <a:endCxn id="31" idx="2"/>
          </p:cNvCxnSpPr>
          <p:nvPr/>
        </p:nvCxnSpPr>
        <p:spPr>
          <a:xfrm flipV="1">
            <a:off x="4991621" y="4283267"/>
            <a:ext cx="1158789" cy="445308"/>
          </a:xfrm>
          <a:prstGeom prst="bentConnector2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0B6353DB-47A2-F724-4284-B6C1FC0B7D01}"/>
              </a:ext>
            </a:extLst>
          </p:cNvPr>
          <p:cNvCxnSpPr>
            <a:cxnSpLocks/>
            <a:stCxn id="31" idx="0"/>
            <a:endCxn id="26" idx="3"/>
          </p:cNvCxnSpPr>
          <p:nvPr/>
        </p:nvCxnSpPr>
        <p:spPr>
          <a:xfrm rot="16200000" flipV="1">
            <a:off x="5442864" y="2247697"/>
            <a:ext cx="256305" cy="1158789"/>
          </a:xfrm>
          <a:prstGeom prst="bentConnector2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D6E25B5-062C-AA0A-DF29-0DAF345B74D2}"/>
              </a:ext>
            </a:extLst>
          </p:cNvPr>
          <p:cNvSpPr txBox="1"/>
          <p:nvPr/>
        </p:nvSpPr>
        <p:spPr>
          <a:xfrm>
            <a:off x="5165166" y="1993403"/>
            <a:ext cx="2035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Reconstruct original sentence</a:t>
            </a:r>
          </a:p>
        </p:txBody>
      </p:sp>
    </p:spTree>
    <p:extLst>
      <p:ext uri="{BB962C8B-B14F-4D97-AF65-F5344CB8AC3E}">
        <p14:creationId xmlns:p14="http://schemas.microsoft.com/office/powerpoint/2010/main" val="147887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DAA9-7B74-3EFA-BDCF-73D3FF0C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D3DC-3622-5F68-89B0-71F71F8E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can we teach a model languages?</a:t>
            </a:r>
          </a:p>
        </p:txBody>
      </p:sp>
      <p:pic>
        <p:nvPicPr>
          <p:cNvPr id="4" name="Picture 2" descr="Baby - Free people icons">
            <a:extLst>
              <a:ext uri="{FF2B5EF4-FFF2-40B4-BE49-F238E27FC236}">
                <a16:creationId xmlns:a16="http://schemas.microsoft.com/office/drawing/2014/main" id="{C0393CB9-50F8-59AE-5DB3-6339D65041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028" y="4728575"/>
            <a:ext cx="1764300" cy="176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Robot outline">
            <a:extLst>
              <a:ext uri="{FF2B5EF4-FFF2-40B4-BE49-F238E27FC236}">
                <a16:creationId xmlns:a16="http://schemas.microsoft.com/office/drawing/2014/main" id="{668BF5C5-CE54-B4B6-9508-ADB73327C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04124" y="4787138"/>
            <a:ext cx="1647173" cy="1647173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8D7D42D4-C747-D5EF-3B2E-EE221313C146}"/>
              </a:ext>
            </a:extLst>
          </p:cNvPr>
          <p:cNvGrpSpPr/>
          <p:nvPr/>
        </p:nvGrpSpPr>
        <p:grpSpPr>
          <a:xfrm>
            <a:off x="8442404" y="2474475"/>
            <a:ext cx="3553605" cy="1713447"/>
            <a:chOff x="8442404" y="2474475"/>
            <a:chExt cx="3553605" cy="1713447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1478DEB-FF0F-FA3D-4600-CB5F4819FA37}"/>
                </a:ext>
              </a:extLst>
            </p:cNvPr>
            <p:cNvSpPr/>
            <p:nvPr/>
          </p:nvSpPr>
          <p:spPr>
            <a:xfrm>
              <a:off x="8586631" y="3619256"/>
              <a:ext cx="1478522" cy="56375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Observation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4693CA2-CB77-F71D-F131-6833D127F314}"/>
                </a:ext>
              </a:extLst>
            </p:cNvPr>
            <p:cNvSpPr/>
            <p:nvPr/>
          </p:nvSpPr>
          <p:spPr>
            <a:xfrm>
              <a:off x="9331889" y="2474475"/>
              <a:ext cx="1605133" cy="56866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General rules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3349ACC-8844-8BAC-A273-483516E69108}"/>
                </a:ext>
              </a:extLst>
            </p:cNvPr>
            <p:cNvSpPr/>
            <p:nvPr/>
          </p:nvSpPr>
          <p:spPr>
            <a:xfrm>
              <a:off x="10303669" y="3619256"/>
              <a:ext cx="1692340" cy="5686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Prediction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4FD9C1-5003-0A92-7092-35C8850E6C32}"/>
                </a:ext>
              </a:extLst>
            </p:cNvPr>
            <p:cNvCxnSpPr>
              <a:cxnSpLocks/>
              <a:stCxn id="9" idx="0"/>
              <a:endCxn id="11" idx="2"/>
            </p:cNvCxnSpPr>
            <p:nvPr/>
          </p:nvCxnSpPr>
          <p:spPr>
            <a:xfrm flipV="1">
              <a:off x="9325892" y="3043141"/>
              <a:ext cx="808564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3D7ECB-232A-3A5C-3755-E8CA42F27EE0}"/>
                </a:ext>
              </a:extLst>
            </p:cNvPr>
            <p:cNvCxnSpPr>
              <a:cxnSpLocks/>
              <a:stCxn id="11" idx="2"/>
              <a:endCxn id="13" idx="0"/>
            </p:cNvCxnSpPr>
            <p:nvPr/>
          </p:nvCxnSpPr>
          <p:spPr>
            <a:xfrm>
              <a:off x="10134456" y="3043141"/>
              <a:ext cx="1015383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3B6208-4C50-DFB6-8590-22AFF653913A}"/>
                </a:ext>
              </a:extLst>
            </p:cNvPr>
            <p:cNvSpPr txBox="1"/>
            <p:nvPr/>
          </p:nvSpPr>
          <p:spPr>
            <a:xfrm>
              <a:off x="8442404" y="3055584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2">
                      <a:lumMod val="75000"/>
                    </a:schemeClr>
                  </a:solidFill>
                </a:rPr>
                <a:t>Induction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327A7B-8BD2-4F13-2509-F3FEF9C17D23}"/>
                </a:ext>
              </a:extLst>
            </p:cNvPr>
            <p:cNvSpPr txBox="1"/>
            <p:nvPr/>
          </p:nvSpPr>
          <p:spPr>
            <a:xfrm>
              <a:off x="10767788" y="3050590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4">
                      <a:lumMod val="50000"/>
                    </a:schemeClr>
                  </a:solidFill>
                </a:rPr>
                <a:t>Deduction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5037C2E-940F-82AC-5241-1A36F57627F6}"/>
              </a:ext>
            </a:extLst>
          </p:cNvPr>
          <p:cNvGrpSpPr/>
          <p:nvPr/>
        </p:nvGrpSpPr>
        <p:grpSpPr>
          <a:xfrm>
            <a:off x="563671" y="1993403"/>
            <a:ext cx="6636710" cy="4653617"/>
            <a:chOff x="563671" y="1993403"/>
            <a:chExt cx="6636710" cy="465361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C3C0DB-F93D-1CB1-D1AD-01E5FC898395}"/>
                </a:ext>
              </a:extLst>
            </p:cNvPr>
            <p:cNvSpPr txBox="1"/>
            <p:nvPr/>
          </p:nvSpPr>
          <p:spPr>
            <a:xfrm>
              <a:off x="563671" y="2034927"/>
              <a:ext cx="4427950" cy="13280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E" dirty="0">
                  <a:latin typeface="Proxima Nova A Light" panose="02000506030000020004" pitchFamily="2" charset="0"/>
                </a:rPr>
                <a:t>To be or not to be, that is the question: Whether ’tis nobler in the mind to suffer the slings and arrows of outrageous fortune,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C66587D-8842-3E89-DB04-32872EE7B347}"/>
                </a:ext>
              </a:extLst>
            </p:cNvPr>
            <p:cNvSpPr txBox="1"/>
            <p:nvPr/>
          </p:nvSpPr>
          <p:spPr>
            <a:xfrm>
              <a:off x="563671" y="4064563"/>
              <a:ext cx="4427950" cy="13280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E" dirty="0">
                  <a:latin typeface="Proxima Nova A Light" panose="02000506030000020004" pitchFamily="2" charset="0"/>
                </a:rPr>
                <a:t>To be or </a:t>
              </a:r>
              <a:r>
                <a:rPr lang="en-IE" dirty="0">
                  <a:solidFill>
                    <a:srgbClr val="FF0000"/>
                  </a:solidFill>
                  <a:highlight>
                    <a:srgbClr val="FF0000"/>
                  </a:highlight>
                  <a:latin typeface="Proxima Nova A Light" panose="02000506030000020004" pitchFamily="2" charset="0"/>
                </a:rPr>
                <a:t>not</a:t>
              </a:r>
              <a:r>
                <a:rPr lang="en-IE" dirty="0">
                  <a:latin typeface="Proxima Nova A Light" panose="02000506030000020004" pitchFamily="2" charset="0"/>
                </a:rPr>
                <a:t> to be, that is the question: Whether ’tis </a:t>
              </a:r>
              <a:r>
                <a:rPr lang="en-IE" dirty="0">
                  <a:solidFill>
                    <a:srgbClr val="FF0000"/>
                  </a:solidFill>
                  <a:highlight>
                    <a:srgbClr val="FF0000"/>
                  </a:highlight>
                  <a:latin typeface="Proxima Nova A Light" panose="02000506030000020004" pitchFamily="2" charset="0"/>
                </a:rPr>
                <a:t>nobler</a:t>
              </a:r>
              <a:r>
                <a:rPr lang="en-IE" dirty="0">
                  <a:latin typeface="Proxima Nova A Light" panose="02000506030000020004" pitchFamily="2" charset="0"/>
                </a:rPr>
                <a:t> in the </a:t>
              </a:r>
              <a:r>
                <a:rPr lang="en-IE" dirty="0">
                  <a:solidFill>
                    <a:srgbClr val="FF0000"/>
                  </a:solidFill>
                  <a:highlight>
                    <a:srgbClr val="FF0000"/>
                  </a:highlight>
                  <a:latin typeface="Proxima Nova A Light" panose="02000506030000020004" pitchFamily="2" charset="0"/>
                </a:rPr>
                <a:t>mind</a:t>
              </a:r>
              <a:r>
                <a:rPr lang="en-IE" dirty="0">
                  <a:latin typeface="Proxima Nova A Light" panose="02000506030000020004" pitchFamily="2" charset="0"/>
                </a:rPr>
                <a:t> to suffer the slings and arrows of </a:t>
              </a:r>
              <a:r>
                <a:rPr lang="en-IE" dirty="0">
                  <a:solidFill>
                    <a:srgbClr val="FF0000"/>
                  </a:solidFill>
                  <a:highlight>
                    <a:srgbClr val="FF0000"/>
                  </a:highlight>
                  <a:latin typeface="Proxima Nova A Light" panose="02000506030000020004" pitchFamily="2" charset="0"/>
                </a:rPr>
                <a:t>outrageous</a:t>
              </a:r>
              <a:r>
                <a:rPr lang="en-IE" dirty="0">
                  <a:latin typeface="Proxima Nova A Light" panose="02000506030000020004" pitchFamily="2" charset="0"/>
                </a:rPr>
                <a:t> fortune,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3C0BBD2-D15E-6C15-B400-DEC33A41028E}"/>
                </a:ext>
              </a:extLst>
            </p:cNvPr>
            <p:cNvCxnSpPr>
              <a:stCxn id="26" idx="2"/>
              <a:endCxn id="27" idx="0"/>
            </p:cNvCxnSpPr>
            <p:nvPr/>
          </p:nvCxnSpPr>
          <p:spPr>
            <a:xfrm>
              <a:off x="2777646" y="3362950"/>
              <a:ext cx="0" cy="7016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D667A3-4FF7-4CA9-812A-AEFBEB323CC5}"/>
                </a:ext>
              </a:extLst>
            </p:cNvPr>
            <p:cNvSpPr txBox="1"/>
            <p:nvPr/>
          </p:nvSpPr>
          <p:spPr>
            <a:xfrm>
              <a:off x="2832554" y="3522523"/>
              <a:ext cx="2218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/>
                <a:t>Mask words (tokens)</a:t>
              </a:r>
            </a:p>
          </p:txBody>
        </p:sp>
        <p:pic>
          <p:nvPicPr>
            <p:cNvPr id="31" name="Graphic 30" descr="Robot outline">
              <a:extLst>
                <a:ext uri="{FF2B5EF4-FFF2-40B4-BE49-F238E27FC236}">
                  <a16:creationId xmlns:a16="http://schemas.microsoft.com/office/drawing/2014/main" id="{CD1C25DD-0494-7156-31C9-810A09BF2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86398" y="2955244"/>
              <a:ext cx="1328023" cy="1328023"/>
            </a:xfrm>
            <a:prstGeom prst="rect">
              <a:avLst/>
            </a:prstGeom>
          </p:spPr>
        </p:pic>
        <p:cxnSp>
          <p:nvCxnSpPr>
            <p:cNvPr id="33" name="Elbow Connector 32">
              <a:extLst>
                <a:ext uri="{FF2B5EF4-FFF2-40B4-BE49-F238E27FC236}">
                  <a16:creationId xmlns:a16="http://schemas.microsoft.com/office/drawing/2014/main" id="{DF5976B2-0CF5-37BC-0EA8-D095225977E7}"/>
                </a:ext>
              </a:extLst>
            </p:cNvPr>
            <p:cNvCxnSpPr>
              <a:stCxn id="27" idx="3"/>
              <a:endCxn id="31" idx="2"/>
            </p:cNvCxnSpPr>
            <p:nvPr/>
          </p:nvCxnSpPr>
          <p:spPr>
            <a:xfrm flipV="1">
              <a:off x="4991621" y="4283267"/>
              <a:ext cx="1158789" cy="445308"/>
            </a:xfrm>
            <a:prstGeom prst="bentConnector2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D3DEEDBA-CA68-9AD2-7184-F4E52BF69FE2}"/>
                </a:ext>
              </a:extLst>
            </p:cNvPr>
            <p:cNvCxnSpPr>
              <a:cxnSpLocks/>
              <a:stCxn id="31" idx="0"/>
              <a:endCxn id="26" idx="3"/>
            </p:cNvCxnSpPr>
            <p:nvPr/>
          </p:nvCxnSpPr>
          <p:spPr>
            <a:xfrm rot="16200000" flipV="1">
              <a:off x="5442864" y="2247697"/>
              <a:ext cx="256305" cy="1158789"/>
            </a:xfrm>
            <a:prstGeom prst="bentConnector2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A33CCAF-E890-EF63-85FD-E225095F3D04}"/>
                </a:ext>
              </a:extLst>
            </p:cNvPr>
            <p:cNvSpPr txBox="1"/>
            <p:nvPr/>
          </p:nvSpPr>
          <p:spPr>
            <a:xfrm>
              <a:off x="5165166" y="1993403"/>
              <a:ext cx="203521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Reconstruct original sentence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2EB5667-A217-7534-CFD3-8C9DB8816ADF}"/>
                </a:ext>
              </a:extLst>
            </p:cNvPr>
            <p:cNvSpPr txBox="1"/>
            <p:nvPr/>
          </p:nvSpPr>
          <p:spPr>
            <a:xfrm>
              <a:off x="5130029" y="4787138"/>
              <a:ext cx="881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/>
                <a:t>p(w | T)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B4E3A88-143E-27E3-D2A6-CBE0F5D0BB09}"/>
                </a:ext>
              </a:extLst>
            </p:cNvPr>
            <p:cNvCxnSpPr>
              <a:cxnSpLocks/>
              <a:stCxn id="38" idx="2"/>
              <a:endCxn id="40" idx="0"/>
            </p:cNvCxnSpPr>
            <p:nvPr/>
          </p:nvCxnSpPr>
          <p:spPr>
            <a:xfrm flipH="1">
              <a:off x="5571015" y="5156470"/>
              <a:ext cx="1" cy="5672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3816DB-CF9A-90AD-E6E5-A7C84F34F6E2}"/>
                </a:ext>
              </a:extLst>
            </p:cNvPr>
            <p:cNvSpPr txBox="1"/>
            <p:nvPr/>
          </p:nvSpPr>
          <p:spPr>
            <a:xfrm>
              <a:off x="4283700" y="5723690"/>
              <a:ext cx="25746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Conditional probability of word (</a:t>
              </a:r>
              <a:r>
                <a:rPr lang="en-IE" i="1" dirty="0"/>
                <a:t>w</a:t>
              </a:r>
              <a:r>
                <a:rPr lang="en-IE" dirty="0"/>
                <a:t>), given the rest of the text (</a:t>
              </a:r>
              <a:r>
                <a:rPr lang="en-IE" i="1" dirty="0"/>
                <a:t>T</a:t>
              </a:r>
              <a:r>
                <a:rPr lang="en-IE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6657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DE9D-7D21-6E8C-A667-7355569BB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Words are </a:t>
            </a:r>
            <a:r>
              <a:rPr lang="en-IE" u="sng" dirty="0"/>
              <a:t>embedded</a:t>
            </a:r>
            <a:r>
              <a:rPr lang="en-IE" dirty="0"/>
              <a:t> as vectors</a:t>
            </a:r>
          </a:p>
        </p:txBody>
      </p:sp>
      <p:pic>
        <p:nvPicPr>
          <p:cNvPr id="4" name="Picture 4" descr="All word embeddings (4,442 words)-visualized in two dimensions using... |  Download Scientific Diagram">
            <a:extLst>
              <a:ext uri="{FF2B5EF4-FFF2-40B4-BE49-F238E27FC236}">
                <a16:creationId xmlns:a16="http://schemas.microsoft.com/office/drawing/2014/main" id="{29A5F87D-2E81-18A9-E69D-50A85C25D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806" y="2194957"/>
            <a:ext cx="7181982" cy="391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D8442AE-7820-4182-5294-60E6443027A2}"/>
              </a:ext>
            </a:extLst>
          </p:cNvPr>
          <p:cNvGrpSpPr/>
          <p:nvPr/>
        </p:nvGrpSpPr>
        <p:grpSpPr>
          <a:xfrm>
            <a:off x="544744" y="1825625"/>
            <a:ext cx="3553605" cy="1713447"/>
            <a:chOff x="8442404" y="2474475"/>
            <a:chExt cx="3553605" cy="171344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A5878A0-1295-77DF-058E-3E5F53515642}"/>
                </a:ext>
              </a:extLst>
            </p:cNvPr>
            <p:cNvSpPr/>
            <p:nvPr/>
          </p:nvSpPr>
          <p:spPr>
            <a:xfrm>
              <a:off x="8586631" y="3619256"/>
              <a:ext cx="1478522" cy="56375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Observation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077D9DE-3BE6-1296-4A13-CF42AAE0A726}"/>
                </a:ext>
              </a:extLst>
            </p:cNvPr>
            <p:cNvSpPr/>
            <p:nvPr/>
          </p:nvSpPr>
          <p:spPr>
            <a:xfrm>
              <a:off x="9331889" y="2474475"/>
              <a:ext cx="1605133" cy="56866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General rules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5CA64FC-F3C3-8A53-DAE1-47207E271258}"/>
                </a:ext>
              </a:extLst>
            </p:cNvPr>
            <p:cNvSpPr/>
            <p:nvPr/>
          </p:nvSpPr>
          <p:spPr>
            <a:xfrm>
              <a:off x="10303669" y="3619256"/>
              <a:ext cx="1692340" cy="568666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tx1"/>
                  </a:solidFill>
                </a:rPr>
                <a:t>Prediction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7210F64-4037-00A2-4E76-0E2F97BD6DC2}"/>
                </a:ext>
              </a:extLst>
            </p:cNvPr>
            <p:cNvCxnSpPr>
              <a:cxnSpLocks/>
              <a:stCxn id="6" idx="0"/>
              <a:endCxn id="7" idx="2"/>
            </p:cNvCxnSpPr>
            <p:nvPr/>
          </p:nvCxnSpPr>
          <p:spPr>
            <a:xfrm flipV="1">
              <a:off x="9325892" y="3043141"/>
              <a:ext cx="808564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68B32F-FFC8-6A62-219B-6359AB3F7988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10134456" y="3043141"/>
              <a:ext cx="1015383" cy="57611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35C6A0-DEA8-130D-BD54-A44558C2DCD1}"/>
                </a:ext>
              </a:extLst>
            </p:cNvPr>
            <p:cNvSpPr txBox="1"/>
            <p:nvPr/>
          </p:nvSpPr>
          <p:spPr>
            <a:xfrm>
              <a:off x="8442404" y="3055584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2">
                      <a:lumMod val="75000"/>
                    </a:schemeClr>
                  </a:solidFill>
                </a:rPr>
                <a:t>Induction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D7DA3E-DB77-A360-A214-8264C9533EC8}"/>
                </a:ext>
              </a:extLst>
            </p:cNvPr>
            <p:cNvSpPr txBox="1"/>
            <p:nvPr/>
          </p:nvSpPr>
          <p:spPr>
            <a:xfrm>
              <a:off x="10767788" y="3050590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chemeClr val="accent4">
                      <a:lumMod val="50000"/>
                    </a:schemeClr>
                  </a:solidFill>
                </a:rPr>
                <a:t>Deduction</a:t>
              </a:r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D8CDE8D6-3B27-2189-0990-4EF3B3379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644" y="3887594"/>
            <a:ext cx="3511468" cy="25132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57FB26-40AA-9EAF-14EE-AEA2DF81E16C}"/>
              </a:ext>
            </a:extLst>
          </p:cNvPr>
          <p:cNvSpPr txBox="1"/>
          <p:nvPr/>
        </p:nvSpPr>
        <p:spPr>
          <a:xfrm>
            <a:off x="5517715" y="1690688"/>
            <a:ext cx="4665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2D representation of multidimensional space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CC2A5E-2059-8B50-B6E4-19D29A444060}"/>
              </a:ext>
            </a:extLst>
          </p:cNvPr>
          <p:cNvSpPr txBox="1"/>
          <p:nvPr/>
        </p:nvSpPr>
        <p:spPr>
          <a:xfrm>
            <a:off x="4288411" y="6123543"/>
            <a:ext cx="7328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Similar words are close together in the </a:t>
            </a:r>
            <a:r>
              <a:rPr lang="en-IE" u="sng" dirty="0"/>
              <a:t>embedding/representation</a:t>
            </a:r>
            <a:r>
              <a:rPr lang="en-IE" dirty="0"/>
              <a:t> space</a:t>
            </a:r>
          </a:p>
        </p:txBody>
      </p:sp>
    </p:spTree>
    <p:extLst>
      <p:ext uri="{BB962C8B-B14F-4D97-AF65-F5344CB8AC3E}">
        <p14:creationId xmlns:p14="http://schemas.microsoft.com/office/powerpoint/2010/main" val="196287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0AEA-3743-AF35-5EAC-6343DD9E5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C361D-BA8F-00FE-F0A8-E6756FA2B266}"/>
              </a:ext>
            </a:extLst>
          </p:cNvPr>
          <p:cNvSpPr txBox="1"/>
          <p:nvPr/>
        </p:nvSpPr>
        <p:spPr>
          <a:xfrm>
            <a:off x="1215883" y="2577138"/>
            <a:ext cx="2091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E" dirty="0">
                <a:hlinkClick r:id="rId2"/>
              </a:rPr>
              <a:t>https://arena.ai/</a:t>
            </a:r>
            <a:endParaRPr lang="en-IE" dirty="0"/>
          </a:p>
          <a:p>
            <a:endParaRPr lang="en-I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3D803-2FAE-8324-750E-6381DF1AB3CC}"/>
              </a:ext>
            </a:extLst>
          </p:cNvPr>
          <p:cNvSpPr txBox="1"/>
          <p:nvPr/>
        </p:nvSpPr>
        <p:spPr>
          <a:xfrm>
            <a:off x="1296443" y="1886755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Model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322E2-C009-A650-DC5E-FFB6FE6FFBC9}"/>
              </a:ext>
            </a:extLst>
          </p:cNvPr>
          <p:cNvSpPr txBox="1"/>
          <p:nvPr/>
        </p:nvSpPr>
        <p:spPr>
          <a:xfrm>
            <a:off x="5300596" y="1886755"/>
            <a:ext cx="424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Language modelling visual explanation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9943B-27BA-E2AE-A6A5-161F6D8EC149}"/>
              </a:ext>
            </a:extLst>
          </p:cNvPr>
          <p:cNvSpPr txBox="1"/>
          <p:nvPr/>
        </p:nvSpPr>
        <p:spPr>
          <a:xfrm>
            <a:off x="4822520" y="2577138"/>
            <a:ext cx="5456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E" dirty="0">
                <a:hlinkClick r:id="rId3"/>
              </a:rPr>
              <a:t>https://www.youtube.com/watch?v=LPZh9BOjkQs</a:t>
            </a:r>
            <a:endParaRPr lang="en-IE" dirty="0"/>
          </a:p>
          <a:p>
            <a:pPr marL="285750" indent="-285750">
              <a:buFontTx/>
              <a:buChar char="-"/>
            </a:pPr>
            <a:r>
              <a:rPr lang="en-IE" dirty="0">
                <a:hlinkClick r:id="rId4"/>
              </a:rPr>
              <a:t>https://www.youtube.com/watch?v=eMlx5fFNoYc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14741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6F01-FDE9-76B1-3391-A4D9232D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D3B3-FC34-1E2C-0E88-81640371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can we model language?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E8C0D-191F-B359-9F4B-E5653FCD8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Transformers and the attention mechanism</a:t>
            </a:r>
          </a:p>
        </p:txBody>
      </p:sp>
    </p:spTree>
    <p:extLst>
      <p:ext uri="{BB962C8B-B14F-4D97-AF65-F5344CB8AC3E}">
        <p14:creationId xmlns:p14="http://schemas.microsoft.com/office/powerpoint/2010/main" val="3651980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1B0B-DF24-6F28-DF13-86F18E13D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Objective: pay attention to the right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7F70-2B2A-CA13-028E-BFF038BC2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girl went to her grandma’s &lt;mask&gt;. &lt;mask&gt; had made cookies.</a:t>
            </a:r>
          </a:p>
          <a:p>
            <a:r>
              <a:rPr lang="en-IE" dirty="0"/>
              <a:t>The ship was lost in the &lt;mask&gt;.</a:t>
            </a:r>
          </a:p>
          <a:p>
            <a:r>
              <a:rPr lang="en-IE" dirty="0"/>
              <a:t>There was &lt;mask&gt; in the M50.</a:t>
            </a:r>
          </a:p>
        </p:txBody>
      </p:sp>
    </p:spTree>
    <p:extLst>
      <p:ext uri="{BB962C8B-B14F-4D97-AF65-F5344CB8AC3E}">
        <p14:creationId xmlns:p14="http://schemas.microsoft.com/office/powerpoint/2010/main" val="423560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1F97-9446-437A-B987-34019E6A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5BA8-2403-DF99-CCF9-39E3222B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Objective: pay attention to the right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950C9-4C93-9FA0-1469-D2E1CAB58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59" y="1831601"/>
            <a:ext cx="10515600" cy="4351338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dirty="0">
                <a:solidFill>
                  <a:srgbClr val="FFC000"/>
                </a:solidFill>
              </a:rPr>
              <a:t>girl</a:t>
            </a:r>
            <a:r>
              <a:rPr lang="en-IE" dirty="0"/>
              <a:t> </a:t>
            </a:r>
            <a:r>
              <a:rPr lang="en-IE" dirty="0">
                <a:solidFill>
                  <a:srgbClr val="FF0000"/>
                </a:solidFill>
              </a:rPr>
              <a:t>went</a:t>
            </a:r>
            <a:r>
              <a:rPr lang="en-IE" dirty="0"/>
              <a:t> to her </a:t>
            </a:r>
            <a:r>
              <a:rPr lang="en-IE" dirty="0">
                <a:solidFill>
                  <a:srgbClr val="FF0000"/>
                </a:solidFill>
              </a:rPr>
              <a:t>grandma’s</a:t>
            </a:r>
            <a:r>
              <a:rPr lang="en-IE" dirty="0"/>
              <a:t> </a:t>
            </a:r>
            <a:r>
              <a:rPr lang="en-IE" dirty="0">
                <a:solidFill>
                  <a:srgbClr val="00B050"/>
                </a:solidFill>
              </a:rPr>
              <a:t>house</a:t>
            </a:r>
            <a:r>
              <a:rPr lang="en-IE" dirty="0"/>
              <a:t>. &lt;mask&gt; had made cookies.</a:t>
            </a:r>
          </a:p>
          <a:p>
            <a:r>
              <a:rPr lang="en-IE" dirty="0"/>
              <a:t>The ship was lost in the &lt;mask&gt;.</a:t>
            </a:r>
          </a:p>
          <a:p>
            <a:r>
              <a:rPr lang="en-IE" dirty="0"/>
              <a:t>There was &lt;mask&gt; in the M50.</a:t>
            </a:r>
          </a:p>
        </p:txBody>
      </p:sp>
    </p:spTree>
    <p:extLst>
      <p:ext uri="{BB962C8B-B14F-4D97-AF65-F5344CB8AC3E}">
        <p14:creationId xmlns:p14="http://schemas.microsoft.com/office/powerpoint/2010/main" val="299265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D4FED-8064-874C-D834-1583A70D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20D37-E029-A2FD-2509-EAFF7952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Objective: pay attention to the right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28C67-DAF6-1CEC-D44F-1F110FD40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59" y="1831601"/>
            <a:ext cx="10515600" cy="4351338"/>
          </a:xfrm>
        </p:spPr>
        <p:txBody>
          <a:bodyPr/>
          <a:lstStyle/>
          <a:p>
            <a:r>
              <a:rPr lang="en-IE" dirty="0"/>
              <a:t>The girl went to her </a:t>
            </a:r>
            <a:r>
              <a:rPr lang="en-IE" dirty="0">
                <a:solidFill>
                  <a:srgbClr val="FF0000"/>
                </a:solidFill>
              </a:rPr>
              <a:t>grandma’s</a:t>
            </a:r>
            <a:r>
              <a:rPr lang="en-IE" dirty="0"/>
              <a:t> house. </a:t>
            </a:r>
            <a:r>
              <a:rPr lang="en-IE" dirty="0">
                <a:solidFill>
                  <a:srgbClr val="00B050"/>
                </a:solidFill>
              </a:rPr>
              <a:t>She</a:t>
            </a:r>
            <a:r>
              <a:rPr lang="en-IE" dirty="0"/>
              <a:t> had made cookies.</a:t>
            </a:r>
          </a:p>
          <a:p>
            <a:r>
              <a:rPr lang="en-IE" dirty="0"/>
              <a:t>The ship was lost in the &lt;mask&gt;.</a:t>
            </a:r>
          </a:p>
          <a:p>
            <a:r>
              <a:rPr lang="en-IE" dirty="0"/>
              <a:t>There was &lt;mask&gt; in the M50.</a:t>
            </a:r>
          </a:p>
        </p:txBody>
      </p:sp>
    </p:spTree>
    <p:extLst>
      <p:ext uri="{BB962C8B-B14F-4D97-AF65-F5344CB8AC3E}">
        <p14:creationId xmlns:p14="http://schemas.microsoft.com/office/powerpoint/2010/main" val="3987760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6582-4640-C4D5-2488-A79D2465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CFFC-0EB5-EE6C-53A7-C88EFB62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Objective: pay attention to the right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7D87B-4EE6-D035-904D-BE45BD60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59" y="1831601"/>
            <a:ext cx="10515600" cy="4351338"/>
          </a:xfrm>
        </p:spPr>
        <p:txBody>
          <a:bodyPr/>
          <a:lstStyle/>
          <a:p>
            <a:r>
              <a:rPr lang="en-IE" dirty="0"/>
              <a:t>The girl went to her grandma’s house. She had made cookies.</a:t>
            </a:r>
          </a:p>
          <a:p>
            <a:r>
              <a:rPr lang="en-IE" dirty="0"/>
              <a:t>The </a:t>
            </a:r>
            <a:r>
              <a:rPr lang="en-IE" dirty="0">
                <a:solidFill>
                  <a:srgbClr val="FF0000"/>
                </a:solidFill>
              </a:rPr>
              <a:t>ship</a:t>
            </a:r>
            <a:r>
              <a:rPr lang="en-IE" dirty="0"/>
              <a:t> was </a:t>
            </a:r>
            <a:r>
              <a:rPr lang="en-IE" dirty="0">
                <a:solidFill>
                  <a:srgbClr val="FFC000"/>
                </a:solidFill>
              </a:rPr>
              <a:t>lost</a:t>
            </a:r>
            <a:r>
              <a:rPr lang="en-IE" dirty="0"/>
              <a:t> in the </a:t>
            </a:r>
            <a:r>
              <a:rPr lang="en-IE" dirty="0">
                <a:solidFill>
                  <a:srgbClr val="00B050"/>
                </a:solidFill>
              </a:rPr>
              <a:t>sea/ocean</a:t>
            </a:r>
            <a:r>
              <a:rPr lang="en-IE" dirty="0"/>
              <a:t>.</a:t>
            </a:r>
          </a:p>
          <a:p>
            <a:r>
              <a:rPr lang="en-IE" dirty="0"/>
              <a:t>There was &lt;mask&gt; in the M50.</a:t>
            </a:r>
          </a:p>
        </p:txBody>
      </p:sp>
    </p:spTree>
    <p:extLst>
      <p:ext uri="{BB962C8B-B14F-4D97-AF65-F5344CB8AC3E}">
        <p14:creationId xmlns:p14="http://schemas.microsoft.com/office/powerpoint/2010/main" val="3808073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22E3-552E-4121-9D74-ADB053A4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976F-731C-2C7E-0976-005A1B80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Objective: pay attention to the right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251C8-9E8A-286A-7914-661F1D1E1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459" y="1831601"/>
            <a:ext cx="10515600" cy="4351338"/>
          </a:xfrm>
        </p:spPr>
        <p:txBody>
          <a:bodyPr/>
          <a:lstStyle/>
          <a:p>
            <a:r>
              <a:rPr lang="en-IE" dirty="0"/>
              <a:t>The girl went to her grandma’s house. She had made cookies.</a:t>
            </a:r>
          </a:p>
          <a:p>
            <a:r>
              <a:rPr lang="en-IE" dirty="0"/>
              <a:t>The ship was lost in the sea/ocean.</a:t>
            </a:r>
          </a:p>
          <a:p>
            <a:r>
              <a:rPr lang="en-IE" dirty="0">
                <a:solidFill>
                  <a:srgbClr val="FFC000"/>
                </a:solidFill>
              </a:rPr>
              <a:t>There was</a:t>
            </a:r>
            <a:r>
              <a:rPr lang="en-IE" dirty="0"/>
              <a:t> </a:t>
            </a:r>
            <a:r>
              <a:rPr lang="en-IE" dirty="0">
                <a:solidFill>
                  <a:srgbClr val="00B050"/>
                </a:solidFill>
              </a:rPr>
              <a:t>traffic/an accident </a:t>
            </a:r>
            <a:r>
              <a:rPr lang="en-IE" dirty="0"/>
              <a:t>in the </a:t>
            </a:r>
            <a:r>
              <a:rPr lang="en-IE" dirty="0">
                <a:solidFill>
                  <a:srgbClr val="FF0000"/>
                </a:solidFill>
              </a:rPr>
              <a:t>M50</a:t>
            </a:r>
            <a:r>
              <a:rPr lang="en-I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323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8953-A9DD-108A-80AC-D64203E6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Attention Layer: Query, Key,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985C79-4CF4-25AD-095B-30B03DC1B0DE}"/>
                  </a:ext>
                </a:extLst>
              </p:cNvPr>
              <p:cNvSpPr txBox="1"/>
              <p:nvPr/>
            </p:nvSpPr>
            <p:spPr>
              <a:xfrm>
                <a:off x="400833" y="1803748"/>
                <a:ext cx="2782044" cy="596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dirty="0"/>
                  <a:t>Attention: </a:t>
                </a:r>
                <a:r>
                  <a:rPr lang="en-IE" i="1" dirty="0" err="1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E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I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985C79-4CF4-25AD-095B-30B03DC1B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33" y="1803748"/>
                <a:ext cx="2782044" cy="596766"/>
              </a:xfrm>
              <a:prstGeom prst="rect">
                <a:avLst/>
              </a:prstGeom>
              <a:blipFill>
                <a:blip r:embed="rId3"/>
                <a:stretch>
                  <a:fillRect l="-1818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Transformer Explainer: LLM Transformer Model Visually Explained">
            <a:extLst>
              <a:ext uri="{FF2B5EF4-FFF2-40B4-BE49-F238E27FC236}">
                <a16:creationId xmlns:a16="http://schemas.microsoft.com/office/drawing/2014/main" id="{218F47FD-12CF-6120-09DA-E3688EAD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218" y="1690688"/>
            <a:ext cx="8101894" cy="466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699120-6F63-4D46-79B0-ACDDC70CFE6B}"/>
              </a:ext>
            </a:extLst>
          </p:cNvPr>
          <p:cNvSpPr txBox="1"/>
          <p:nvPr/>
        </p:nvSpPr>
        <p:spPr>
          <a:xfrm>
            <a:off x="128425" y="2703161"/>
            <a:ext cx="36046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Key: </a:t>
            </a:r>
            <a:r>
              <a:rPr lang="en-IE" dirty="0"/>
              <a:t>embedding of word we are interested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Quey: </a:t>
            </a:r>
            <a:r>
              <a:rPr lang="en-IE" dirty="0"/>
              <a:t>embedding of words we want to see if they are worth attending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Value: </a:t>
            </a:r>
            <a:r>
              <a:rPr lang="en-IE" dirty="0"/>
              <a:t>embedding of all words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F4FEA-F0AB-04D9-8182-569C89B49A80}"/>
              </a:ext>
            </a:extLst>
          </p:cNvPr>
          <p:cNvSpPr txBox="1"/>
          <p:nvPr/>
        </p:nvSpPr>
        <p:spPr>
          <a:xfrm>
            <a:off x="4991622" y="2924827"/>
            <a:ext cx="55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QK</a:t>
            </a:r>
            <a:r>
              <a:rPr lang="en-IE" baseline="30000" dirty="0"/>
              <a:t>T</a:t>
            </a: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ADE8DC-076C-6AD7-C359-3B8F327A5D3F}"/>
                  </a:ext>
                </a:extLst>
              </p:cNvPr>
              <p:cNvSpPr txBox="1"/>
              <p:nvPr/>
            </p:nvSpPr>
            <p:spPr>
              <a:xfrm>
                <a:off x="7195794" y="2458642"/>
                <a:ext cx="1586108" cy="764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E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I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IE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IE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ADE8DC-076C-6AD7-C359-3B8F327A5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794" y="2458642"/>
                <a:ext cx="1586108" cy="764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CB5BF-A2A7-D8A1-7BD1-C9BC5550CCDB}"/>
                  </a:ext>
                </a:extLst>
              </p:cNvPr>
              <p:cNvSpPr txBox="1"/>
              <p:nvPr/>
            </p:nvSpPr>
            <p:spPr>
              <a:xfrm>
                <a:off x="10672472" y="2706963"/>
                <a:ext cx="6097044" cy="596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E" i="1" dirty="0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E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I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ACB5BF-A2A7-D8A1-7BD1-C9BC5550C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2472" y="2706963"/>
                <a:ext cx="6097044" cy="596766"/>
              </a:xfrm>
              <a:prstGeom prst="rect">
                <a:avLst/>
              </a:prstGeom>
              <a:blipFill>
                <a:blip r:embed="rId6"/>
                <a:stretch>
                  <a:fillRect l="-832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55237-7F45-21B9-D786-2704AEA81D17}"/>
                  </a:ext>
                </a:extLst>
              </p:cNvPr>
              <p:cNvSpPr txBox="1"/>
              <p:nvPr/>
            </p:nvSpPr>
            <p:spPr>
              <a:xfrm>
                <a:off x="8970591" y="2626444"/>
                <a:ext cx="1586108" cy="596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E" i="1" dirty="0"/>
                  <a:t>softmax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E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lang="en-I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55237-7F45-21B9-D786-2704AEA81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591" y="2626444"/>
                <a:ext cx="1586108" cy="596766"/>
              </a:xfrm>
              <a:prstGeom prst="rect">
                <a:avLst/>
              </a:prstGeom>
              <a:blipFill>
                <a:blip r:embed="rId7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945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E035-9AA5-08F7-AEA4-FCA7D317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6 Visualization of a specific self-attention in the fifth layer of a... |  Download Scientific Diagram">
            <a:extLst>
              <a:ext uri="{FF2B5EF4-FFF2-40B4-BE49-F238E27FC236}">
                <a16:creationId xmlns:a16="http://schemas.microsoft.com/office/drawing/2014/main" id="{15C4574F-83A5-B086-3800-F606CED72E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382044"/>
            <a:ext cx="8572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773C9B-AA43-5315-F707-D3A947EB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Objective: pay attention to the right words</a:t>
            </a:r>
          </a:p>
        </p:txBody>
      </p:sp>
    </p:spTree>
    <p:extLst>
      <p:ext uri="{BB962C8B-B14F-4D97-AF65-F5344CB8AC3E}">
        <p14:creationId xmlns:p14="http://schemas.microsoft.com/office/powerpoint/2010/main" val="487504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DDD8-6F48-2DC5-687D-F16B78E1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Transformer architecture</a:t>
            </a:r>
          </a:p>
        </p:txBody>
      </p:sp>
      <p:pic>
        <p:nvPicPr>
          <p:cNvPr id="6146" name="Picture 2" descr="Intro to Transformer Architecture">
            <a:extLst>
              <a:ext uri="{FF2B5EF4-FFF2-40B4-BE49-F238E27FC236}">
                <a16:creationId xmlns:a16="http://schemas.microsoft.com/office/drawing/2014/main" id="{67F24438-8D59-6585-3F43-3484C890CE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7" r="9753"/>
          <a:stretch>
            <a:fillRect/>
          </a:stretch>
        </p:blipFill>
        <p:spPr bwMode="auto">
          <a:xfrm>
            <a:off x="4835046" y="1690688"/>
            <a:ext cx="692689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AC842-283E-907F-F8C8-C631091021D5}"/>
              </a:ext>
            </a:extLst>
          </p:cNvPr>
          <p:cNvSpPr txBox="1"/>
          <p:nvPr/>
        </p:nvSpPr>
        <p:spPr>
          <a:xfrm>
            <a:off x="369518" y="2223370"/>
            <a:ext cx="3703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- </a:t>
            </a:r>
            <a:r>
              <a:rPr lang="en-IE" b="1" dirty="0"/>
              <a:t>Encoder: </a:t>
            </a:r>
            <a:r>
              <a:rPr lang="en-IE" dirty="0"/>
              <a:t>Text to numerical vector</a:t>
            </a:r>
          </a:p>
          <a:p>
            <a:r>
              <a:rPr lang="en-IE" dirty="0"/>
              <a:t>- </a:t>
            </a:r>
            <a:r>
              <a:rPr lang="en-IE" b="1" dirty="0"/>
              <a:t>Decoder: </a:t>
            </a:r>
            <a:r>
              <a:rPr lang="en-IE" dirty="0"/>
              <a:t>Numerical vector to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B4902-1F46-0E64-5CE0-B79F8D6CFD55}"/>
              </a:ext>
            </a:extLst>
          </p:cNvPr>
          <p:cNvSpPr txBox="1"/>
          <p:nvPr/>
        </p:nvSpPr>
        <p:spPr>
          <a:xfrm>
            <a:off x="3103092" y="4705647"/>
            <a:ext cx="2702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E" dirty="0"/>
              <a:t>Tokenizer</a:t>
            </a:r>
          </a:p>
          <a:p>
            <a:pPr marL="285750" indent="-285750">
              <a:buFontTx/>
              <a:buChar char="-"/>
            </a:pPr>
            <a:r>
              <a:rPr lang="en-IE" dirty="0"/>
              <a:t>Embedding layer</a:t>
            </a:r>
          </a:p>
          <a:p>
            <a:pPr marL="285750" indent="-285750">
              <a:buFontTx/>
              <a:buChar char="-"/>
            </a:pPr>
            <a:r>
              <a:rPr lang="en-IE" dirty="0"/>
              <a:t>Attention layer</a:t>
            </a:r>
          </a:p>
          <a:p>
            <a:pPr marL="285750" indent="-285750">
              <a:buFontTx/>
              <a:buChar char="-"/>
            </a:pPr>
            <a:r>
              <a:rPr lang="en-IE" dirty="0"/>
              <a:t>Fully connected layers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236A2-A78C-96C8-CA19-51CFF4F4740F}"/>
              </a:ext>
            </a:extLst>
          </p:cNvPr>
          <p:cNvSpPr txBox="1"/>
          <p:nvPr/>
        </p:nvSpPr>
        <p:spPr>
          <a:xfrm>
            <a:off x="9117673" y="5064726"/>
            <a:ext cx="27023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E" dirty="0"/>
              <a:t>Attention layer</a:t>
            </a:r>
          </a:p>
          <a:p>
            <a:pPr marL="285750" indent="-285750">
              <a:buFontTx/>
              <a:buChar char="-"/>
            </a:pPr>
            <a:r>
              <a:rPr lang="en-IE" dirty="0"/>
              <a:t>Fully connected layers</a:t>
            </a:r>
          </a:p>
          <a:p>
            <a:pPr marL="285750" indent="-285750">
              <a:buFontTx/>
              <a:buChar char="-"/>
            </a:pPr>
            <a:r>
              <a:rPr lang="en-IE" dirty="0"/>
              <a:t>Prediction head</a:t>
            </a:r>
          </a:p>
        </p:txBody>
      </p:sp>
    </p:spTree>
    <p:extLst>
      <p:ext uri="{BB962C8B-B14F-4D97-AF65-F5344CB8AC3E}">
        <p14:creationId xmlns:p14="http://schemas.microsoft.com/office/powerpoint/2010/main" val="2008475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A854-F241-2D6D-D651-D953709D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Types of architecture</a:t>
            </a:r>
          </a:p>
        </p:txBody>
      </p:sp>
      <p:pic>
        <p:nvPicPr>
          <p:cNvPr id="1026" name="Picture 2" descr="A Complete Guide to BERT with Code | Towards Data Science">
            <a:extLst>
              <a:ext uri="{FF2B5EF4-FFF2-40B4-BE49-F238E27FC236}">
                <a16:creationId xmlns:a16="http://schemas.microsoft.com/office/drawing/2014/main" id="{DA082EA6-76A4-3119-506B-1211791D42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90"/>
          <a:stretch>
            <a:fillRect/>
          </a:stretch>
        </p:blipFill>
        <p:spPr bwMode="auto">
          <a:xfrm>
            <a:off x="2102113" y="1759883"/>
            <a:ext cx="7987773" cy="462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876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37C39-EE44-DC7D-8C23-198359B2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349E-1810-B6DD-29DF-C1C402CF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the molecular languages?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0015D-C59E-8388-060F-D2CD870B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Transforming biomolecules into strings</a:t>
            </a:r>
          </a:p>
        </p:txBody>
      </p:sp>
    </p:spTree>
    <p:extLst>
      <p:ext uri="{BB962C8B-B14F-4D97-AF65-F5344CB8AC3E}">
        <p14:creationId xmlns:p14="http://schemas.microsoft.com/office/powerpoint/2010/main" val="3912827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F440-625A-E92C-759A-DB495BD2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Biosequences</a:t>
            </a:r>
            <a:endParaRPr lang="en-IE" dirty="0"/>
          </a:p>
        </p:txBody>
      </p:sp>
      <p:pic>
        <p:nvPicPr>
          <p:cNvPr id="2050" name="Picture 2" descr="Intro to gene expression (central dogma) (article) | Khan Academy">
            <a:extLst>
              <a:ext uri="{FF2B5EF4-FFF2-40B4-BE49-F238E27FC236}">
                <a16:creationId xmlns:a16="http://schemas.microsoft.com/office/drawing/2014/main" id="{4161AD30-2AC0-7890-8931-A47788141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5" t="15908" r="15931"/>
          <a:stretch>
            <a:fillRect/>
          </a:stretch>
        </p:blipFill>
        <p:spPr bwMode="auto">
          <a:xfrm>
            <a:off x="2832847" y="1690688"/>
            <a:ext cx="8755529" cy="419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7B1FE0-77E4-94D9-7361-654932C1D0C6}"/>
              </a:ext>
            </a:extLst>
          </p:cNvPr>
          <p:cNvSpPr txBox="1"/>
          <p:nvPr/>
        </p:nvSpPr>
        <p:spPr>
          <a:xfrm>
            <a:off x="361134" y="2819073"/>
            <a:ext cx="31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DNA and RNA: </a:t>
            </a:r>
            <a:r>
              <a:rPr lang="en-IE" dirty="0"/>
              <a:t> 4 letter alphabet, huge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B0462-F68F-E8A2-974E-F50896E1354D}"/>
              </a:ext>
            </a:extLst>
          </p:cNvPr>
          <p:cNvSpPr txBox="1"/>
          <p:nvPr/>
        </p:nvSpPr>
        <p:spPr>
          <a:xfrm>
            <a:off x="361134" y="4352762"/>
            <a:ext cx="31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b="1" dirty="0"/>
              <a:t>Proteins: </a:t>
            </a:r>
            <a:r>
              <a:rPr lang="en-IE" dirty="0"/>
              <a:t> ~20 letter alphabet, smaller context</a:t>
            </a:r>
            <a:endParaRPr lang="en-IE" b="1" dirty="0"/>
          </a:p>
        </p:txBody>
      </p:sp>
    </p:spTree>
    <p:extLst>
      <p:ext uri="{BB962C8B-B14F-4D97-AF65-F5344CB8AC3E}">
        <p14:creationId xmlns:p14="http://schemas.microsoft.com/office/powerpoint/2010/main" val="3530125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5E4-D59C-CBD8-149F-234F4A22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Biosequence</a:t>
            </a:r>
            <a:r>
              <a:rPr lang="en-IE" dirty="0"/>
              <a:t> evolution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D94315-4B5C-1A06-30B5-C307C4DB6A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101" y="1477924"/>
            <a:ext cx="5710791" cy="52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fferent column patterns in an MSA. Schematic representation of an MSA...  | Download Scientific Diagram">
            <a:extLst>
              <a:ext uri="{FF2B5EF4-FFF2-40B4-BE49-F238E27FC236}">
                <a16:creationId xmlns:a16="http://schemas.microsoft.com/office/drawing/2014/main" id="{34FB33AF-3241-2B4B-AF83-61795647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967" y="1690688"/>
            <a:ext cx="3900820" cy="432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70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EE3E-412B-D448-2ADB-94A0E524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2CFF-8D7B-C778-BBFA-42ADD76C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Biosequences</a:t>
            </a:r>
            <a:endParaRPr lang="en-IE" dirty="0"/>
          </a:p>
        </p:txBody>
      </p:sp>
      <p:pic>
        <p:nvPicPr>
          <p:cNvPr id="3" name="Picture 4" descr="Multiple sequence alignment - Wikipedia">
            <a:extLst>
              <a:ext uri="{FF2B5EF4-FFF2-40B4-BE49-F238E27FC236}">
                <a16:creationId xmlns:a16="http://schemas.microsoft.com/office/drawing/2014/main" id="{D9C35754-7FB4-ED74-2F38-FA858CE28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90"/>
          <a:stretch/>
        </p:blipFill>
        <p:spPr bwMode="auto">
          <a:xfrm>
            <a:off x="4509853" y="2303943"/>
            <a:ext cx="6976923" cy="291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222BDED-BD1F-063F-FBCB-63D286F1C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232" y="2504092"/>
            <a:ext cx="3511468" cy="25132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B3E466-D8FE-FE2D-C51C-D34D5D369540}"/>
              </a:ext>
            </a:extLst>
          </p:cNvPr>
          <p:cNvSpPr txBox="1"/>
          <p:nvPr/>
        </p:nvSpPr>
        <p:spPr>
          <a:xfrm>
            <a:off x="5301129" y="1804894"/>
            <a:ext cx="511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Language models learn evolutionary conservation</a:t>
            </a:r>
          </a:p>
        </p:txBody>
      </p:sp>
    </p:spTree>
    <p:extLst>
      <p:ext uri="{BB962C8B-B14F-4D97-AF65-F5344CB8AC3E}">
        <p14:creationId xmlns:p14="http://schemas.microsoft.com/office/powerpoint/2010/main" val="726957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BF60-5C45-852A-F04E-C69853F6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Protein Language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121969-0934-7CFC-E3F9-DD8818752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460449"/>
              </p:ext>
            </p:extLst>
          </p:nvPr>
        </p:nvGraphicFramePr>
        <p:xfrm>
          <a:off x="838200" y="1825625"/>
          <a:ext cx="8998464" cy="424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616">
                  <a:extLst>
                    <a:ext uri="{9D8B030D-6E8A-4147-A177-3AD203B41FA5}">
                      <a16:colId xmlns:a16="http://schemas.microsoft.com/office/drawing/2014/main" val="1519085443"/>
                    </a:ext>
                  </a:extLst>
                </a:gridCol>
                <a:gridCol w="2249616">
                  <a:extLst>
                    <a:ext uri="{9D8B030D-6E8A-4147-A177-3AD203B41FA5}">
                      <a16:colId xmlns:a16="http://schemas.microsoft.com/office/drawing/2014/main" val="1585191939"/>
                    </a:ext>
                  </a:extLst>
                </a:gridCol>
                <a:gridCol w="2249616">
                  <a:extLst>
                    <a:ext uri="{9D8B030D-6E8A-4147-A177-3AD203B41FA5}">
                      <a16:colId xmlns:a16="http://schemas.microsoft.com/office/drawing/2014/main" val="3337560034"/>
                    </a:ext>
                  </a:extLst>
                </a:gridCol>
                <a:gridCol w="2249616">
                  <a:extLst>
                    <a:ext uri="{9D8B030D-6E8A-4147-A177-3AD203B41FA5}">
                      <a16:colId xmlns:a16="http://schemas.microsoft.com/office/drawing/2014/main" val="764308351"/>
                    </a:ext>
                  </a:extLst>
                </a:gridCol>
              </a:tblGrid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Num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/>
                        <a:t>Year</a:t>
                      </a:r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632110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ESM-1b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650M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874426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 err="1"/>
                        <a:t>ProtBERT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400M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RostLab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011228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Prot-T5-XL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560M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RostLab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64763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ProtGPT2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730M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Noelia </a:t>
                      </a:r>
                      <a:r>
                        <a:rPr lang="en-IE" dirty="0" err="1"/>
                        <a:t>Ferruz</a:t>
                      </a:r>
                      <a:r>
                        <a:rPr lang="en-IE" dirty="0"/>
                        <a:t> Lab</a:t>
                      </a:r>
                    </a:p>
                    <a:p>
                      <a:r>
                        <a:rPr lang="en-IE" dirty="0"/>
                        <a:t>(Barcelona)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480223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ESM-2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8M, 35M, 150M, 650M, 3B y 15B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670582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ESM-Fold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3B (+ 690M)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25015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ProstT5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560M</a:t>
                      </a:r>
                    </a:p>
                    <a:p>
                      <a:r>
                        <a:rPr lang="en-IE" dirty="0"/>
                        <a:t>(From Prot-T5-XL)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RostLab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9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817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4B7EE-9B5D-4313-15D6-AF859739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Small molecules: SMILES</a:t>
            </a:r>
          </a:p>
        </p:txBody>
      </p:sp>
      <p:pic>
        <p:nvPicPr>
          <p:cNvPr id="3074" name="Picture 2" descr="Canonical (a) and randomized (b) SMILES representations of aspirin.... |  Download Scientific Diagram">
            <a:extLst>
              <a:ext uri="{FF2B5EF4-FFF2-40B4-BE49-F238E27FC236}">
                <a16:creationId xmlns:a16="http://schemas.microsoft.com/office/drawing/2014/main" id="{524B6C4C-033A-1F1A-D59C-8857D3178E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31601"/>
            <a:ext cx="90210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2F7DA2-93DB-8B4F-E3C6-749B2A1AFC7B}"/>
              </a:ext>
            </a:extLst>
          </p:cNvPr>
          <p:cNvSpPr txBox="1"/>
          <p:nvPr/>
        </p:nvSpPr>
        <p:spPr>
          <a:xfrm>
            <a:off x="10363200" y="1690688"/>
            <a:ext cx="118494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E" dirty="0"/>
          </a:p>
          <a:p>
            <a:r>
              <a:rPr lang="en-IE" dirty="0"/>
              <a:t>Simplified</a:t>
            </a:r>
          </a:p>
          <a:p>
            <a:r>
              <a:rPr lang="en-IE" dirty="0"/>
              <a:t>Molecular</a:t>
            </a:r>
          </a:p>
          <a:p>
            <a:r>
              <a:rPr lang="en-IE" dirty="0"/>
              <a:t>Input</a:t>
            </a:r>
          </a:p>
          <a:p>
            <a:r>
              <a:rPr lang="en-IE" dirty="0"/>
              <a:t>Line</a:t>
            </a:r>
          </a:p>
          <a:p>
            <a:r>
              <a:rPr lang="en-IE" dirty="0"/>
              <a:t>Entry</a:t>
            </a:r>
          </a:p>
          <a:p>
            <a:r>
              <a:rPr lang="en-IE" dirty="0"/>
              <a:t>System</a:t>
            </a:r>
          </a:p>
          <a:p>
            <a:br>
              <a:rPr lang="en-IE" dirty="0"/>
            </a:b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541360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27F7-39AD-25D1-BEC3-DD866F98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SMILES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AC86F-0AD8-433C-355B-8931252FD931}"/>
              </a:ext>
            </a:extLst>
          </p:cNvPr>
          <p:cNvSpPr txBox="1"/>
          <p:nvPr/>
        </p:nvSpPr>
        <p:spPr>
          <a:xfrm>
            <a:off x="3509319" y="23354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E" dirty="0"/>
          </a:p>
        </p:txBody>
      </p:sp>
      <p:pic>
        <p:nvPicPr>
          <p:cNvPr id="5" name="Picture 8" descr="SMILES enumeration as Batch Generator | Cheminformania">
            <a:extLst>
              <a:ext uri="{FF2B5EF4-FFF2-40B4-BE49-F238E27FC236}">
                <a16:creationId xmlns:a16="http://schemas.microsoft.com/office/drawing/2014/main" id="{FE2C838F-907C-8F81-634B-846C8152B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09" y="2335427"/>
            <a:ext cx="4504282" cy="368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554E555-1577-4686-C39F-C663A3FFC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1013" y="2335427"/>
            <a:ext cx="3348718" cy="350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02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0B6D-4106-632D-9A15-99A1A7EB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Chemical fingerprints</a:t>
            </a:r>
          </a:p>
        </p:txBody>
      </p:sp>
      <p:pic>
        <p:nvPicPr>
          <p:cNvPr id="4098" name="Picture 2" descr="Extended Connectivity Fingerprint ECFP | Semantic Scholar">
            <a:extLst>
              <a:ext uri="{FF2B5EF4-FFF2-40B4-BE49-F238E27FC236}">
                <a16:creationId xmlns:a16="http://schemas.microsoft.com/office/drawing/2014/main" id="{6A14BA69-B81B-C7CB-88EE-D425FA839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325" y="1825625"/>
            <a:ext cx="507412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EDB655-C0B0-2949-719B-688357E29E28}"/>
              </a:ext>
            </a:extLst>
          </p:cNvPr>
          <p:cNvSpPr txBox="1"/>
          <p:nvPr/>
        </p:nvSpPr>
        <p:spPr>
          <a:xfrm>
            <a:off x="838200" y="2032001"/>
            <a:ext cx="35402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E" dirty="0"/>
              <a:t>Define circular substructures</a:t>
            </a:r>
          </a:p>
          <a:p>
            <a:pPr marL="342900" indent="-342900">
              <a:buFont typeface="+mj-lt"/>
              <a:buAutoNum type="arabicPeriod"/>
            </a:pPr>
            <a:r>
              <a:rPr lang="en-IE" dirty="0"/>
              <a:t>Hash the substructures</a:t>
            </a:r>
          </a:p>
          <a:p>
            <a:pPr marL="342900" indent="-342900">
              <a:buFont typeface="+mj-lt"/>
              <a:buAutoNum type="arabicPeriod"/>
            </a:pPr>
            <a:r>
              <a:rPr lang="en-IE" dirty="0"/>
              <a:t>Fold the hashes into bit-vector</a:t>
            </a:r>
          </a:p>
        </p:txBody>
      </p:sp>
    </p:spTree>
    <p:extLst>
      <p:ext uri="{BB962C8B-B14F-4D97-AF65-F5344CB8AC3E}">
        <p14:creationId xmlns:p14="http://schemas.microsoft.com/office/powerpoint/2010/main" val="2714783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724E-0A96-86AB-DED3-85DF3AEE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Chemical Language Models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4C1EF7-3670-516C-AAE7-C58C79A36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718450"/>
              </p:ext>
            </p:extLst>
          </p:nvPr>
        </p:nvGraphicFramePr>
        <p:xfrm>
          <a:off x="1688805" y="1793727"/>
          <a:ext cx="8998464" cy="424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616">
                  <a:extLst>
                    <a:ext uri="{9D8B030D-6E8A-4147-A177-3AD203B41FA5}">
                      <a16:colId xmlns:a16="http://schemas.microsoft.com/office/drawing/2014/main" val="1519085443"/>
                    </a:ext>
                  </a:extLst>
                </a:gridCol>
                <a:gridCol w="2249616">
                  <a:extLst>
                    <a:ext uri="{9D8B030D-6E8A-4147-A177-3AD203B41FA5}">
                      <a16:colId xmlns:a16="http://schemas.microsoft.com/office/drawing/2014/main" val="1585191939"/>
                    </a:ext>
                  </a:extLst>
                </a:gridCol>
                <a:gridCol w="2249616">
                  <a:extLst>
                    <a:ext uri="{9D8B030D-6E8A-4147-A177-3AD203B41FA5}">
                      <a16:colId xmlns:a16="http://schemas.microsoft.com/office/drawing/2014/main" val="3337560034"/>
                    </a:ext>
                  </a:extLst>
                </a:gridCol>
                <a:gridCol w="2249616">
                  <a:extLst>
                    <a:ext uri="{9D8B030D-6E8A-4147-A177-3AD203B41FA5}">
                      <a16:colId xmlns:a16="http://schemas.microsoft.com/office/drawing/2014/main" val="764308351"/>
                    </a:ext>
                  </a:extLst>
                </a:gridCol>
              </a:tblGrid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Num 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Laboratory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632110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 err="1"/>
                        <a:t>ChemBERTa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3.5M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Ramsudar</a:t>
                      </a:r>
                      <a:r>
                        <a:rPr lang="en-IE" dirty="0"/>
                        <a:t>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874426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 err="1"/>
                        <a:t>Molformer</a:t>
                      </a:r>
                      <a:r>
                        <a:rPr lang="en-IE" dirty="0"/>
                        <a:t>-XL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45M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011228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Prot-T5-XL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560M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RostLab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64763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ProtGPT2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730M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Noelia </a:t>
                      </a:r>
                      <a:r>
                        <a:rPr lang="en-IE" dirty="0" err="1"/>
                        <a:t>Ferruz</a:t>
                      </a:r>
                      <a:r>
                        <a:rPr lang="en-IE" dirty="0"/>
                        <a:t> Lab</a:t>
                      </a:r>
                    </a:p>
                    <a:p>
                      <a:r>
                        <a:rPr lang="en-IE" dirty="0"/>
                        <a:t>(Barcelona)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480223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ESM-2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8M, 35M, 150M, 650M, 3B y 15B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670582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ESM-Fold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3B (+ 690M)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25015"/>
                  </a:ext>
                </a:extLst>
              </a:tr>
              <a:tr h="465400">
                <a:tc>
                  <a:txBody>
                    <a:bodyPr/>
                    <a:lstStyle/>
                    <a:p>
                      <a:r>
                        <a:rPr lang="en-IE" dirty="0"/>
                        <a:t>ProstT5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560M</a:t>
                      </a:r>
                    </a:p>
                    <a:p>
                      <a:r>
                        <a:rPr lang="en-IE" dirty="0"/>
                        <a:t>(From Prot-T5-XL)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 err="1"/>
                        <a:t>RostLab</a:t>
                      </a:r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dirty="0"/>
                        <a:t>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9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554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842</Words>
  <Application>Microsoft Macintosh PowerPoint</Application>
  <PresentationFormat>Widescreen</PresentationFormat>
  <Paragraphs>202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Proxima Nova A Light</vt:lpstr>
      <vt:lpstr>Office Theme</vt:lpstr>
      <vt:lpstr>Molecular language models</vt:lpstr>
      <vt:lpstr>What are language models?</vt:lpstr>
      <vt:lpstr>Natural language</vt:lpstr>
      <vt:lpstr>How do we learn language?</vt:lpstr>
      <vt:lpstr>How do we learn language?</vt:lpstr>
      <vt:lpstr>How do we learn language?</vt:lpstr>
      <vt:lpstr>How can we teach a model languages?</vt:lpstr>
      <vt:lpstr>How can we teach a model languages?</vt:lpstr>
      <vt:lpstr>How can we teach a model languages?</vt:lpstr>
      <vt:lpstr>Words are embedded as vectors</vt:lpstr>
      <vt:lpstr>Resources</vt:lpstr>
      <vt:lpstr>How can we model language?</vt:lpstr>
      <vt:lpstr>Objective: pay attention to the right words</vt:lpstr>
      <vt:lpstr>Objective: pay attention to the right words</vt:lpstr>
      <vt:lpstr>Objective: pay attention to the right words</vt:lpstr>
      <vt:lpstr>Objective: pay attention to the right words</vt:lpstr>
      <vt:lpstr>Objective: pay attention to the right words</vt:lpstr>
      <vt:lpstr>Attention Layer: Query, Key, Value</vt:lpstr>
      <vt:lpstr>Objective: pay attention to the right words</vt:lpstr>
      <vt:lpstr>Transformer architecture</vt:lpstr>
      <vt:lpstr>Types of architecture</vt:lpstr>
      <vt:lpstr>What are the molecular languages?</vt:lpstr>
      <vt:lpstr>Biosequences</vt:lpstr>
      <vt:lpstr>Biosequence evolution</vt:lpstr>
      <vt:lpstr>Biosequences</vt:lpstr>
      <vt:lpstr>Protein Language Models</vt:lpstr>
      <vt:lpstr>Small molecules: SMILES</vt:lpstr>
      <vt:lpstr>SMILES</vt:lpstr>
      <vt:lpstr>Chemical fingerprints</vt:lpstr>
      <vt:lpstr>Chemical Language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 Fernandez Diaz</dc:creator>
  <cp:lastModifiedBy>Raul Fernandez Diaz</cp:lastModifiedBy>
  <cp:revision>4</cp:revision>
  <dcterms:created xsi:type="dcterms:W3CDTF">2026-02-09T09:38:30Z</dcterms:created>
  <dcterms:modified xsi:type="dcterms:W3CDTF">2026-02-16T09:15:09Z</dcterms:modified>
</cp:coreProperties>
</file>